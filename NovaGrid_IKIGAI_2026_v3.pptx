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0799763" cy="6480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457200"/>
            <a:ext cx="5486400" cy="2286000"/>
          </a:xfrm>
          <a:prstGeom prst="ellipse">
            <a:avLst/>
          </a:prstGeom>
          <a:solidFill>
            <a:srgbClr val="0D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914400"/>
            <a:ext cx="3657600" cy="1371600"/>
          </a:xfrm>
          <a:prstGeom prst="ellipse">
            <a:avLst/>
          </a:prstGeom>
          <a:solidFill>
            <a:srgbClr val="0F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38BDF8"/>
                </a:solidFill>
                <a:latin typeface="Segoe UI Semibold"/>
              </a:rPr>
              <a:t>NovaGrid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Segoe UI"/>
              </a:rPr>
              <a:t>API Guardian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880360"/>
            <a:ext cx="219456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Segoe UI"/>
              </a:rPr>
              <a:t>OpenAPI Change Detection  |  Human Validation  |  Real-time Notifications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3749039"/>
            <a:ext cx="1371600" cy="34747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76732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749039"/>
            <a:ext cx="1371600" cy="34747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376732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749039"/>
            <a:ext cx="1371600" cy="34747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76732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Supabase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49039"/>
            <a:ext cx="1371600" cy="34747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76732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viaSocket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IKIGAI 2026  |  Acropolis Institute of Technology and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>Dept. of CSIT &amp; CSE(CY)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8BDF8"/>
                </a:solidFill>
                <a:latin typeface="Segoe UI"/>
              </a:rPr>
              <a:t>TEAM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18288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Segoe UI"/>
              </a:rPr>
              <a:t>TRACK /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API change detection without manual monitoring. How do we know when a third-party API breaks our application?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4023360" cy="18288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Segoe UI"/>
              </a:rPr>
              <a:t>TEAM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4630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Team Name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NovaGrid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Leader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Segoe UI"/>
              </a:rPr>
              <a:t>Team Leader Name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Email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Segoe UI"/>
              </a:rPr>
              <a:t>team@novagrid.dev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Segoe UI"/>
              </a:rPr>
              <a:t>TEAM MEMBERS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92024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56616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Member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Frontend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3474720"/>
            <a:ext cx="192024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00400" y="356616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3611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160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Member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4348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474720"/>
            <a:ext cx="192024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03520" y="356616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3611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160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Member 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4348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AI/ML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59" y="3474720"/>
            <a:ext cx="192024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06639" y="356616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39" y="3611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7999" y="4160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Member 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7999" y="44348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DevOps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8229600" cy="12700"/>
          </a:xfrm>
          <a:prstGeom prst="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NovaGrid API Guardian | IKIGAI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7171"/>
                </a:solidFill>
                <a:latin typeface="Segoe UI"/>
              </a:rPr>
              <a:t>PROBLEM &amp; GAP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8229600" cy="320040"/>
          </a:xfrm>
          <a:prstGeom prst="roundRect">
            <a:avLst/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784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7171"/>
                </a:solidFill>
                <a:latin typeface="Segoe UI"/>
              </a:rPr>
              <a:t>When a third-party API changes, production breaks silently. Developers find out only when users report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2011680" cy="18288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55448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819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Silent 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Production breaks when
API removes a field.
No monitor catches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1463040"/>
            <a:ext cx="2011680" cy="18288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54680" y="155448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5819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No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377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No dashboard shows
which APIs changed,
when, or how badly.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463040"/>
            <a:ext cx="2011680" cy="18288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03520" y="155448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5819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Manual Debugging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377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Developers diff specs
by hand. Doesn't scale
across 100+ endpoints.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463040"/>
            <a:ext cx="2011680" cy="18288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2360" y="1554480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5819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Business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377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Downtime, data loss,
lost revenue. Zero
early warning system.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8229600" cy="365760"/>
          </a:xfrm>
          <a:prstGeom prst="roundRect">
            <a:avLst/>
          </a:prstGeom>
          <a:solidFill>
            <a:srgbClr val="20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3872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BBF24"/>
                </a:solidFill>
                <a:latin typeface="Segoe UI"/>
              </a:rPr>
              <a:t>GAP: Postman tests but doesn't monitor  |  Dependabot scans deps not APIs  |  Custom scripts are fragile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69080"/>
            <a:ext cx="8229600" cy="82296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Segoe UI"/>
              </a:rPr>
              <a:t>WHY NOVAGRID?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CBD5E1"/>
                </a:solidFill>
                <a:latin typeface="Segoe UI"/>
              </a:rPr>
              <a:t>No existing tool does structural API diff + human validation + notification in one system. NovaGrid fills this gap.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Segoe UI"/>
              </a:rPr>
              <a:t>Zero AI cost  |  Free-tier stack  |  Complete workflow from detection to 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8229600" cy="12700"/>
          </a:xfrm>
          <a:prstGeom prst="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NovaGrid API Guardian | IKIGAI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Segoe UI"/>
              </a:rPr>
              <a:t>SOLUTION &amp; WHY NOVAGRID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011680" cy="18288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201168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OpenAPI Diff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Structural JSON comparison.
No AI needed. Fast, free,
deterministic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005840"/>
            <a:ext cx="2011680" cy="18288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23160" y="1005840"/>
            <a:ext cx="2011680" cy="36576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024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Breaking/Safe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Auto-classifies every change
as breaking, safe, or warning.
Risk score 0-100.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005840"/>
            <a:ext cx="2011680" cy="18288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1005840"/>
            <a:ext cx="2011680" cy="3657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024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Human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Approve/reject before production.
No breaking changes reach
users without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1005840"/>
            <a:ext cx="2011680" cy="18288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20840" y="1005840"/>
            <a:ext cx="2011680" cy="3657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1024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viaSocket 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Email + Slack + Google Sheets.
Real-time alerts on every
API change detected.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Segoe UI"/>
              </a:rPr>
              <a:t>COMPARISON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37560"/>
            <a:ext cx="8229600" cy="27432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Feature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Existing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NovaGrid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39312"/>
            <a:ext cx="8229600" cy="2743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39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API Diff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639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Manual 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39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Segoe UI"/>
              </a:rPr>
              <a:t>Automatic structural diff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41063"/>
            <a:ext cx="8229600" cy="2743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9410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Classification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94106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No risk assessment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94106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Segoe UI"/>
              </a:rPr>
              <a:t>Breaking / Safe / Warning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242816"/>
            <a:ext cx="8229600" cy="2743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2428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Human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42428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None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2428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Segoe UI"/>
              </a:rPr>
              <a:t>Approve/reject workflow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544568"/>
            <a:ext cx="8229600" cy="2743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544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Notifications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544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Email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4544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Segoe UI"/>
              </a:rPr>
              <a:t>Email + Slack + Sheets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846320"/>
            <a:ext cx="8229600" cy="2743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Cost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Paid subscriptions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Segoe UI"/>
              </a:rPr>
              <a:t>Zero AI cost, free tier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029200"/>
            <a:ext cx="8229600" cy="12700"/>
          </a:xfrm>
          <a:prstGeom prst="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NovaGrid API Guardian | IKIGAI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A78BFA"/>
                </a:solidFill>
                <a:latin typeface="Segoe UI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2651760" cy="201168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2651760" cy="4114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React + Vite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MUI Components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React Router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SVG Tree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05840"/>
            <a:ext cx="2651760" cy="201168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1005840"/>
            <a:ext cx="2651760" cy="4114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0241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FastAPI (Python)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Pydantic Validation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AST Route Scanner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httpx HTTP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05840"/>
            <a:ext cx="2651760" cy="201168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005840"/>
            <a:ext cx="2651760" cy="41148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0241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Severity Scoring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Human-readable Explanations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Fix Suggestions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Auto-Repair (optional)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  <a:latin typeface="Segoe UI"/>
              </a:rPr>
              <a:t>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474720"/>
            <a:ext cx="6400800" cy="9144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3474720"/>
            <a:ext cx="640080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4930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DATABASE: Supabase (PostgreSQL)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8862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CBD5E1"/>
                </a:solidFill>
                <a:latin typeface="Segoe UI"/>
              </a:rPr>
              <a:t>tracked_apis  |  change_reports  |  scan_history  |  validation_decisions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72000"/>
            <a:ext cx="8229600" cy="365760"/>
          </a:xfrm>
          <a:prstGeom prst="roundRect">
            <a:avLst/>
          </a:prstGeom>
          <a:solidFill>
            <a:srgbClr val="14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902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Segoe UI"/>
              </a:rPr>
              <a:t>Notifications: viaSocket (webhook) -&gt; Email + Slack + Google Sheets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8229600" cy="12700"/>
          </a:xfrm>
          <a:prstGeom prst="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NovaGrid API Guardian | IKIGAI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Segoe UI"/>
              </a:rPr>
              <a:t>WORKFLOW &amp; API REGISTRATION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84048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Segoe UI"/>
              </a:rPr>
              <a:t>REGISTER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1. Enter API name (e.g., Stripe)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2. Paste OpenAPI spec URL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3. Click Register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System fetches spec, parses all 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05840"/>
            <a:ext cx="411480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972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</a:rPr>
              <a:t>SMART SCANNING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4173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Scheduler runs every N seconds: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1. Fetch latest OpenAPI spec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2. Compare with stored Version 1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3. Classify changes, store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Segoe UI"/>
              </a:rPr>
              <a:t>8-STEP PIPELINE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200400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00400"/>
            <a:ext cx="7955279" cy="219456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Segoe UI"/>
              </a:rPr>
              <a:t>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00400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Developer enters API name + OpenAPI URL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447288"/>
            <a:ext cx="219456" cy="21945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47288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7955279" cy="219456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472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Segoe UI"/>
              </a:rPr>
              <a:t>PARSE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447288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System fetches JSON, extracts all endpoints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694176"/>
            <a:ext cx="219456" cy="21945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94176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694176"/>
            <a:ext cx="7955279" cy="219456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69417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Segoe UI"/>
              </a:rPr>
              <a:t>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94176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Manifest saved to Supabase (Version 1 baseline)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3941064"/>
            <a:ext cx="219456" cy="21945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941064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941064"/>
            <a:ext cx="7955279" cy="219456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94106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Segoe UI"/>
              </a:rPr>
              <a:t>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941064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Scheduler checks every N seconds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4187952"/>
            <a:ext cx="219456" cy="21945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87952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187952"/>
            <a:ext cx="7955279" cy="219456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1879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  <a:latin typeface="Segoe UI"/>
              </a:rPr>
              <a:t>CLASSIFY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187952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Changes: Breaking / Safe / Warning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" y="4434840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434840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434840"/>
            <a:ext cx="7955279" cy="219456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43484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Segoe UI"/>
              </a:rPr>
              <a:t>NOTIFY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434840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Alerts via email + Sheets + Slack</a:t>
            </a:r>
          </a:p>
        </p:txBody>
      </p:sp>
      <p:sp>
        <p:nvSpPr>
          <p:cNvPr id="41" name="Oval 40"/>
          <p:cNvSpPr/>
          <p:nvPr/>
        </p:nvSpPr>
        <p:spPr>
          <a:xfrm>
            <a:off x="457200" y="4681728"/>
            <a:ext cx="219456" cy="21945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681728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4681728"/>
            <a:ext cx="7955279" cy="219456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6817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Segoe UI"/>
              </a:rPr>
              <a:t>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4681728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Human approves or rejects changes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4928616"/>
            <a:ext cx="219456" cy="21945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928616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4928616"/>
            <a:ext cx="7955279" cy="219456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492861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Segoe UI"/>
              </a:rPr>
              <a:t>AUDIT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928616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Full history with timestamps and decisions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029200"/>
            <a:ext cx="8229600" cy="12700"/>
          </a:xfrm>
          <a:prstGeom prst="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NovaGrid API Guardian | IKIGAI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A78BFA"/>
                </a:solidFill>
                <a:latin typeface="Segoe UI"/>
              </a:rPr>
              <a:t>TREE VIS &amp; CHANGE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25603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Segoe UI"/>
              </a:rPr>
              <a:t>ENDPOINT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210312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813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Payment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828800"/>
            <a:ext cx="25400" cy="27432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057400"/>
            <a:ext cx="2103120" cy="2540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164592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/users  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60320"/>
            <a:ext cx="1645920" cy="256032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7860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{ username, email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194560"/>
            <a:ext cx="164592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2128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/payment  POST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2560320"/>
            <a:ext cx="1645920" cy="256032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257860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{ amount, currency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260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GET=Green  POST=Amber  PUT=Purple  DELETE=Red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Green dot=Has validation  Yellow dot=No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005840"/>
            <a:ext cx="4114800" cy="25603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0972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Segoe UI"/>
              </a:rPr>
              <a:t>CHANGE DETECTION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1508760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463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  <a:latin typeface="Segoe UI"/>
              </a:rPr>
              <a:t>Endpoint Removed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POST /old-endpoint
disappears completely</a:t>
            </a:r>
          </a:p>
        </p:txBody>
      </p:sp>
      <p:sp>
        <p:nvSpPr>
          <p:cNvPr id="24" name="Oval 23"/>
          <p:cNvSpPr/>
          <p:nvPr/>
        </p:nvSpPr>
        <p:spPr>
          <a:xfrm>
            <a:off x="4846320" y="2011680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1965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Segoe UI"/>
              </a:rPr>
              <a:t>Field Type Changed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965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amount: string -&gt;
integer (type change)</a:t>
            </a:r>
          </a:p>
        </p:txBody>
      </p:sp>
      <p:sp>
        <p:nvSpPr>
          <p:cNvPr id="27" name="Oval 26"/>
          <p:cNvSpPr/>
          <p:nvPr/>
        </p:nvSpPr>
        <p:spPr>
          <a:xfrm>
            <a:off x="4846320" y="2514600"/>
            <a:ext cx="164592" cy="1645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2468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Segoe UI"/>
              </a:rPr>
              <a:t>New Required 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468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currency now required
in request body</a:t>
            </a:r>
          </a:p>
        </p:txBody>
      </p:sp>
      <p:sp>
        <p:nvSpPr>
          <p:cNvPr id="30" name="Oval 29"/>
          <p:cNvSpPr/>
          <p:nvPr/>
        </p:nvSpPr>
        <p:spPr>
          <a:xfrm>
            <a:off x="4846320" y="3017520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29718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Segoe UI"/>
              </a:rPr>
              <a:t>Response Schema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971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New field added to
response body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794760"/>
            <a:ext cx="8229600" cy="109728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Segoe UI"/>
              </a:rPr>
              <a:t>HOW IT WORKS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160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38BDF8"/>
                </a:solidFill>
                <a:latin typeface="Segoe UI"/>
              </a:rPr>
              <a:t>1. Fetch latest spec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  -&gt;  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A78BFA"/>
                </a:solidFill>
                <a:latin typeface="Segoe UI"/>
              </a:rPr>
              <a:t>2. Compare JSON structurally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  -&gt;  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BBF24"/>
                </a:solidFill>
                <a:latin typeface="Segoe UI"/>
              </a:rPr>
              <a:t>3. Classify: Breaking/Safe/Warning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  -&gt;  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Segoe UI"/>
              </a:rPr>
              <a:t>4. Store report + Notify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29200"/>
            <a:ext cx="8229600" cy="12700"/>
          </a:xfrm>
          <a:prstGeom prst="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NovaGrid API Guardian | IKIGAI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Segoe UI"/>
              </a:rPr>
              <a:t>IMPACT ANALYSIS &amp; AI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011680" cy="201168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201168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24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AST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Scans Python source for
FastAPI route decorators.
Extracts signatures, types,
and body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005840"/>
            <a:ext cx="2011680" cy="201168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23160" y="1005840"/>
            <a:ext cx="2011680" cy="3657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024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Affected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4630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Maps each endpoint to
source files. Shows exact
line numbers and dependent
functions.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005840"/>
            <a:ext cx="2011680" cy="201168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005840"/>
            <a:ext cx="2011680" cy="36576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024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Dependency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4630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Visualizes service-to-API
calls. Shows blast radius
of a breaking change
across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005840"/>
            <a:ext cx="2011680" cy="201168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20840" y="1005840"/>
            <a:ext cx="2011680" cy="3657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024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Action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4630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Impact score 0-100.
Breaking/Safe counts.
Recommended actions.
Exportable as JSON.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00400"/>
            <a:ext cx="8229600" cy="274320"/>
          </a:xfrm>
          <a:prstGeom prst="roundRect">
            <a:avLst/>
          </a:prstGeom>
          <a:solidFill>
            <a:srgbClr val="14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1868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78BFA"/>
                </a:solidFill>
                <a:latin typeface="Segoe UI"/>
              </a:rPr>
              <a:t>AI LAYER (optional - core diff engine works without it)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611880"/>
            <a:ext cx="2011680" cy="128016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3703320"/>
            <a:ext cx="365760" cy="36576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7171"/>
                </a:solidFill>
                <a:latin typeface="Segoe UI"/>
              </a:rPr>
              <a:t>Severity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Segoe UI"/>
              </a:rPr>
              <a:t>Critical/High/Med/Low
based on impact analysis
and field sensitivity.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23160" y="3611880"/>
            <a:ext cx="2011680" cy="128016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54680" y="370332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Explanation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Segoe UI"/>
              </a:rPr>
              <a:t>Human-readable reason
why a change is breaking
and what it affects.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3611880"/>
            <a:ext cx="2011680" cy="128016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03520" y="3703320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D399"/>
                </a:solidFill>
                <a:latin typeface="Segoe UI"/>
              </a:rPr>
              <a:t>Fix Suggestions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Segoe UI"/>
              </a:rPr>
              <a:t>Proposed code changes
to adapt to new API.
Shows diff before/after.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3611880"/>
            <a:ext cx="2011680" cy="128016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52360" y="3703320"/>
            <a:ext cx="365760" cy="3657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Segoe UI"/>
              </a:rPr>
              <a:t>Auto-Repair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Segoe UI"/>
              </a:rPr>
              <a:t>Low-risk changes auto-
applied to a branch.
Creates pull request.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29200"/>
            <a:ext cx="8229600" cy="12700"/>
          </a:xfrm>
          <a:prstGeom prst="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NovaGrid API Guardian | IKIGAI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Segoe UI"/>
              </a:rPr>
              <a:t>DASHBOARD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01168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201168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24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Login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55448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Email field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96596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84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Password field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37744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957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Sign 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78892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07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Sign Up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83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Supabase auth
Sign up / Sign in
Secure &amp; fast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1005840"/>
            <a:ext cx="201168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23160" y="1005840"/>
            <a:ext cx="2011680" cy="3657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24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Stats Overview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32888" y="155448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1572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Total APIs: 19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32888" y="196596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40" y="1984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Changes: 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32888" y="237744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40" y="23957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Pending: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32888" y="278892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2807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Health: 94%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3383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KPIs at a glance
APIs monitored
Changes detected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1005840"/>
            <a:ext cx="201168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0" y="1005840"/>
            <a:ext cx="2011680" cy="36576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1024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Tree 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81728" y="155448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1572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/users GET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81728" y="196596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1984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/payment POST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81728" y="237744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23957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/orders GET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81728" y="278892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2807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/auth 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3383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Interactive SVG
Endpoint graph
Click to inspect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20840" y="1005840"/>
            <a:ext cx="201168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720840" y="1005840"/>
            <a:ext cx="2011680" cy="3657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1024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Change Report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30568" y="155448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1572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Endpoint removed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30568" y="196596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03720" y="1984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Field type changed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30568" y="237744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03720" y="23957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Score: 72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30568" y="2788920"/>
            <a:ext cx="1792224" cy="320040"/>
          </a:xfrm>
          <a:prstGeom prst="round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03720" y="2807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Segoe UI"/>
              </a:rPr>
              <a:t>Status: Pending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3383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Before/after diff
Breaking vs Safe
Approve or Reject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029200"/>
            <a:ext cx="8229600" cy="12700"/>
          </a:xfrm>
          <a:prstGeom prst="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NovaGrid API Guardian | IKIGAI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8BDF8"/>
                </a:solidFill>
                <a:latin typeface="Segoe UI"/>
              </a:rPr>
              <a:t>IMPLEMENTATION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011680" cy="32004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2011680" cy="4114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24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627632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React + Vite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039112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MUI Components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450592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React Router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2862072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SVG Tree Viz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3273552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Dark/Light Theme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1097280" cy="2743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587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1005840"/>
            <a:ext cx="2011680" cy="32004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23160" y="1005840"/>
            <a:ext cx="2011680" cy="4114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1024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22" name="Oval 21"/>
          <p:cNvSpPr/>
          <p:nvPr/>
        </p:nvSpPr>
        <p:spPr>
          <a:xfrm>
            <a:off x="2560320" y="1627632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FastAPI</a:t>
            </a:r>
          </a:p>
        </p:txBody>
      </p:sp>
      <p:sp>
        <p:nvSpPr>
          <p:cNvPr id="24" name="Oval 23"/>
          <p:cNvSpPr/>
          <p:nvPr/>
        </p:nvSpPr>
        <p:spPr>
          <a:xfrm>
            <a:off x="2560320" y="2039112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Pydantic Models</a:t>
            </a:r>
          </a:p>
        </p:txBody>
      </p:sp>
      <p:sp>
        <p:nvSpPr>
          <p:cNvPr id="26" name="Oval 25"/>
          <p:cNvSpPr/>
          <p:nvPr/>
        </p:nvSpPr>
        <p:spPr>
          <a:xfrm>
            <a:off x="2560320" y="2450592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AST Parser</a:t>
            </a:r>
          </a:p>
        </p:txBody>
      </p:sp>
      <p:sp>
        <p:nvSpPr>
          <p:cNvPr id="28" name="Oval 27"/>
          <p:cNvSpPr/>
          <p:nvPr/>
        </p:nvSpPr>
        <p:spPr>
          <a:xfrm>
            <a:off x="2560320" y="2862072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OpenAPI Diff</a:t>
            </a:r>
          </a:p>
        </p:txBody>
      </p:sp>
      <p:sp>
        <p:nvSpPr>
          <p:cNvPr id="30" name="Oval 29"/>
          <p:cNvSpPr/>
          <p:nvPr/>
        </p:nvSpPr>
        <p:spPr>
          <a:xfrm>
            <a:off x="2560320" y="3273552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88920" y="3200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Route Scanner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3840480"/>
            <a:ext cx="1097280" cy="27432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38587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1005840"/>
            <a:ext cx="2011680" cy="32004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72000" y="1005840"/>
            <a:ext cx="2011680" cy="41148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1024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Database</a:t>
            </a:r>
          </a:p>
        </p:txBody>
      </p:sp>
      <p:sp>
        <p:nvSpPr>
          <p:cNvPr id="37" name="Oval 36"/>
          <p:cNvSpPr/>
          <p:nvPr/>
        </p:nvSpPr>
        <p:spPr>
          <a:xfrm>
            <a:off x="4709160" y="1627632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Supabase PostgreSQL</a:t>
            </a:r>
          </a:p>
        </p:txBody>
      </p:sp>
      <p:sp>
        <p:nvSpPr>
          <p:cNvPr id="39" name="Oval 38"/>
          <p:cNvSpPr/>
          <p:nvPr/>
        </p:nvSpPr>
        <p:spPr>
          <a:xfrm>
            <a:off x="4709160" y="2039112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tracked_apis</a:t>
            </a:r>
          </a:p>
        </p:txBody>
      </p:sp>
      <p:sp>
        <p:nvSpPr>
          <p:cNvPr id="41" name="Oval 40"/>
          <p:cNvSpPr/>
          <p:nvPr/>
        </p:nvSpPr>
        <p:spPr>
          <a:xfrm>
            <a:off x="4709160" y="2450592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change_reports</a:t>
            </a:r>
          </a:p>
        </p:txBody>
      </p:sp>
      <p:sp>
        <p:nvSpPr>
          <p:cNvPr id="43" name="Oval 42"/>
          <p:cNvSpPr/>
          <p:nvPr/>
        </p:nvSpPr>
        <p:spPr>
          <a:xfrm>
            <a:off x="4709160" y="2862072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scan_history</a:t>
            </a:r>
          </a:p>
        </p:txBody>
      </p:sp>
      <p:sp>
        <p:nvSpPr>
          <p:cNvPr id="45" name="Oval 44"/>
          <p:cNvSpPr/>
          <p:nvPr/>
        </p:nvSpPr>
        <p:spPr>
          <a:xfrm>
            <a:off x="4709160" y="3273552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37760" y="3200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validation_decisions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0" y="3840480"/>
            <a:ext cx="1097280" cy="2743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0" y="38587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20840" y="1005840"/>
            <a:ext cx="2011680" cy="32004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720840" y="1005840"/>
            <a:ext cx="2011680" cy="4114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20840" y="1024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AI / Notify</a:t>
            </a:r>
          </a:p>
        </p:txBody>
      </p:sp>
      <p:sp>
        <p:nvSpPr>
          <p:cNvPr id="52" name="Oval 51"/>
          <p:cNvSpPr/>
          <p:nvPr/>
        </p:nvSpPr>
        <p:spPr>
          <a:xfrm>
            <a:off x="6858000" y="1627632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86600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Severity Scoring</a:t>
            </a:r>
          </a:p>
        </p:txBody>
      </p:sp>
      <p:sp>
        <p:nvSpPr>
          <p:cNvPr id="54" name="Oval 53"/>
          <p:cNvSpPr/>
          <p:nvPr/>
        </p:nvSpPr>
        <p:spPr>
          <a:xfrm>
            <a:off x="6858000" y="2039112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866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Explanation Gen</a:t>
            </a:r>
          </a:p>
        </p:txBody>
      </p:sp>
      <p:sp>
        <p:nvSpPr>
          <p:cNvPr id="56" name="Oval 55"/>
          <p:cNvSpPr/>
          <p:nvPr/>
        </p:nvSpPr>
        <p:spPr>
          <a:xfrm>
            <a:off x="6858000" y="2450592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86600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Fix Suggestions</a:t>
            </a:r>
          </a:p>
        </p:txBody>
      </p:sp>
      <p:sp>
        <p:nvSpPr>
          <p:cNvPr id="58" name="Oval 57"/>
          <p:cNvSpPr/>
          <p:nvPr/>
        </p:nvSpPr>
        <p:spPr>
          <a:xfrm>
            <a:off x="6858000" y="2862072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86600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Auto-Repair</a:t>
            </a:r>
          </a:p>
        </p:txBody>
      </p:sp>
      <p:sp>
        <p:nvSpPr>
          <p:cNvPr id="60" name="Oval 59"/>
          <p:cNvSpPr/>
          <p:nvPr/>
        </p:nvSpPr>
        <p:spPr>
          <a:xfrm>
            <a:off x="6858000" y="3273552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86600" y="3200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viaSocket Alerts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178040" y="3840480"/>
            <a:ext cx="1097280" cy="2743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78040" y="38587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4389120"/>
            <a:ext cx="8229600" cy="457200"/>
          </a:xfrm>
          <a:prstGeom prst="roundRect">
            <a:avLst/>
          </a:prstGeom>
          <a:solidFill>
            <a:srgbClr val="0D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434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Segoe UI"/>
              </a:rPr>
              <a:t>All 4 components fully built and functional. Ready for deployment.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5029200"/>
            <a:ext cx="8229600" cy="12700"/>
          </a:xfrm>
          <a:prstGeom prst="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NovaGrid API Guardian | IKIGAI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8BDF8"/>
                </a:solidFill>
                <a:latin typeface="Segoe UI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011680" cy="292608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2011680" cy="4114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24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600200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React + Vite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103120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MUI Components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606040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React Router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3108960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SVG Tree Viz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1005840"/>
            <a:ext cx="2011680" cy="292608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23160" y="1005840"/>
            <a:ext cx="2011680" cy="4114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1024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18" name="Oval 17"/>
          <p:cNvSpPr/>
          <p:nvPr/>
        </p:nvSpPr>
        <p:spPr>
          <a:xfrm>
            <a:off x="2560320" y="1600200"/>
            <a:ext cx="201168" cy="20116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FastAPI (Python)</a:t>
            </a:r>
          </a:p>
        </p:txBody>
      </p:sp>
      <p:sp>
        <p:nvSpPr>
          <p:cNvPr id="20" name="Oval 19"/>
          <p:cNvSpPr/>
          <p:nvPr/>
        </p:nvSpPr>
        <p:spPr>
          <a:xfrm>
            <a:off x="2560320" y="2103120"/>
            <a:ext cx="201168" cy="20116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2057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Pydantic</a:t>
            </a:r>
          </a:p>
        </p:txBody>
      </p:sp>
      <p:sp>
        <p:nvSpPr>
          <p:cNvPr id="22" name="Oval 21"/>
          <p:cNvSpPr/>
          <p:nvPr/>
        </p:nvSpPr>
        <p:spPr>
          <a:xfrm>
            <a:off x="2560320" y="2606040"/>
            <a:ext cx="201168" cy="20116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2560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AST Parsing</a:t>
            </a:r>
          </a:p>
        </p:txBody>
      </p:sp>
      <p:sp>
        <p:nvSpPr>
          <p:cNvPr id="24" name="Oval 23"/>
          <p:cNvSpPr/>
          <p:nvPr/>
        </p:nvSpPr>
        <p:spPr>
          <a:xfrm>
            <a:off x="2560320" y="3108960"/>
            <a:ext cx="201168" cy="20116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3063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httpx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1005840"/>
            <a:ext cx="2011680" cy="292608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0" y="1005840"/>
            <a:ext cx="2011680" cy="41148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1024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Database</a:t>
            </a:r>
          </a:p>
        </p:txBody>
      </p:sp>
      <p:sp>
        <p:nvSpPr>
          <p:cNvPr id="29" name="Oval 28"/>
          <p:cNvSpPr/>
          <p:nvPr/>
        </p:nvSpPr>
        <p:spPr>
          <a:xfrm>
            <a:off x="4709160" y="1600200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Supabase</a:t>
            </a:r>
          </a:p>
        </p:txBody>
      </p:sp>
      <p:sp>
        <p:nvSpPr>
          <p:cNvPr id="31" name="Oval 30"/>
          <p:cNvSpPr/>
          <p:nvPr/>
        </p:nvSpPr>
        <p:spPr>
          <a:xfrm>
            <a:off x="4709160" y="2103120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2057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PostgreSQL</a:t>
            </a:r>
          </a:p>
        </p:txBody>
      </p:sp>
      <p:sp>
        <p:nvSpPr>
          <p:cNvPr id="33" name="Oval 32"/>
          <p:cNvSpPr/>
          <p:nvPr/>
        </p:nvSpPr>
        <p:spPr>
          <a:xfrm>
            <a:off x="4709160" y="2606040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2560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Row Level Security</a:t>
            </a:r>
          </a:p>
        </p:txBody>
      </p:sp>
      <p:sp>
        <p:nvSpPr>
          <p:cNvPr id="35" name="Oval 34"/>
          <p:cNvSpPr/>
          <p:nvPr/>
        </p:nvSpPr>
        <p:spPr>
          <a:xfrm>
            <a:off x="4709160" y="3108960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3063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Realtime Subs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1005840"/>
            <a:ext cx="2011680" cy="292608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20840" y="1005840"/>
            <a:ext cx="2011680" cy="4114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1024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Deploy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0" y="1600200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Vercel (Frontend)</a:t>
            </a:r>
          </a:p>
        </p:txBody>
      </p:sp>
      <p:sp>
        <p:nvSpPr>
          <p:cNvPr id="42" name="Oval 41"/>
          <p:cNvSpPr/>
          <p:nvPr/>
        </p:nvSpPr>
        <p:spPr>
          <a:xfrm>
            <a:off x="6858000" y="2103120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2057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Railway (Backend)</a:t>
            </a:r>
          </a:p>
        </p:txBody>
      </p:sp>
      <p:sp>
        <p:nvSpPr>
          <p:cNvPr id="44" name="Oval 43"/>
          <p:cNvSpPr/>
          <p:nvPr/>
        </p:nvSpPr>
        <p:spPr>
          <a:xfrm>
            <a:off x="6858000" y="2606040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2560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GitHub CI/CD</a:t>
            </a:r>
          </a:p>
        </p:txBody>
      </p:sp>
      <p:sp>
        <p:nvSpPr>
          <p:cNvPr id="46" name="Oval 45"/>
          <p:cNvSpPr/>
          <p:nvPr/>
        </p:nvSpPr>
        <p:spPr>
          <a:xfrm>
            <a:off x="6858000" y="3108960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40" y="3063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5-min deploy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206240"/>
            <a:ext cx="8229600" cy="457200"/>
          </a:xfrm>
          <a:prstGeom prst="roundRect">
            <a:avLst/>
          </a:prstGeom>
          <a:solidFill>
            <a:srgbClr val="0D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251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Segoe UI"/>
              </a:rPr>
              <a:t>No paid APIs  |  No AI subscriptions  |  No complex agent frameworks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029200"/>
            <a:ext cx="8229600" cy="12700"/>
          </a:xfrm>
          <a:prstGeom prst="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NovaGrid API Guardian | IKIGAI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A78BFA"/>
                </a:solidFill>
                <a:latin typeface="Segoe UI"/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22860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931920" cy="4114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002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GitHub repo monitoring - clone, scan, detect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01168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Sandbox testing - isolated environment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Auto-apply low-risk fixes (confidence &gt; 90%)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83464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Multi-framework: Express.js, Spring Boot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005840"/>
            <a:ext cx="4023360" cy="22860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1005840"/>
            <a:ext cx="4023360" cy="4114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0241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160020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Dependency graph mapping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0" y="201168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Production log analysis</a:t>
            </a:r>
          </a:p>
        </p:txBody>
      </p:sp>
      <p:sp>
        <p:nvSpPr>
          <p:cNvPr id="22" name="Oval 21"/>
          <p:cNvSpPr/>
          <p:nvPr/>
        </p:nvSpPr>
        <p:spPr>
          <a:xfrm>
            <a:off x="4846320" y="242316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CI/CD integration</a:t>
            </a:r>
          </a:p>
        </p:txBody>
      </p:sp>
      <p:sp>
        <p:nvSpPr>
          <p:cNvPr id="24" name="Oval 23"/>
          <p:cNvSpPr/>
          <p:nvPr/>
        </p:nvSpPr>
        <p:spPr>
          <a:xfrm>
            <a:off x="4846320" y="283464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Multi-team dashboards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66160"/>
            <a:ext cx="8229600" cy="1371600"/>
          </a:xfrm>
          <a:prstGeom prst="roundRect">
            <a:avLst/>
          </a:prstGeom>
          <a:solidFill>
            <a:srgbClr val="0D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6576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Segoe UI"/>
              </a:rPr>
              <a:t>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23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NovaGrid makes API change detection accessible, affordable, and actionable.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No AI dependency means zero ongoing costs for the core engine.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  <a:latin typeface="Segoe UI"/>
              </a:rPr>
              <a:t>Human-in-the-loop ensures safety while automation handles the boring parts.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8229600" cy="12700"/>
          </a:xfrm>
          <a:prstGeom prst="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NovaGrid API Guardian | IKIGAI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Segoe UI"/>
              </a:rPr>
              <a:t>RESEARCH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65176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128016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OpenAPI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swagger.io/specification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97280"/>
            <a:ext cx="265176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0" y="128016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874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Petstore Demo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petstore.swagger.io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97280"/>
            <a:ext cx="265176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0" y="128016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FastAPI 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fastapi.tiangolo.com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08960"/>
            <a:ext cx="265176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63040" y="329184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Supabase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supabase.com/docs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108960"/>
            <a:ext cx="265176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97680" y="3291840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886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viaSocket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206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viasocket.com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108960"/>
            <a:ext cx="265176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32320" y="329184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886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APIs.guru Catalog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206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api.apis.guru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8229600" cy="12700"/>
          </a:xfrm>
          <a:prstGeom prst="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NovaGrid API Guardian | IKIGAI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0" y="457200"/>
            <a:ext cx="4572000" cy="1828800"/>
          </a:xfrm>
          <a:prstGeom prst="ellipse">
            <a:avLst/>
          </a:prstGeom>
          <a:solidFill>
            <a:srgbClr val="0D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8BDF8"/>
                </a:solidFill>
                <a:latin typeface="Segoe UI Semibold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377440"/>
            <a:ext cx="219456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92024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88036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team@novagrid.dev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743200"/>
            <a:ext cx="192024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46120" y="288036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3429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7490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NovaGrid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743200"/>
            <a:ext cx="192024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49240" y="288036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429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Segoe UI"/>
              </a:rPr>
              <a:t>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490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Acropolis Institute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59" y="2743200"/>
            <a:ext cx="192024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52359" y="288036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7999" y="3429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Segoe UI"/>
              </a:rPr>
              <a:t>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37490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IKIGAI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>Acropolis Institute of Technology and Research  |  Dept. of CSIT &amp; CSE(CY)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